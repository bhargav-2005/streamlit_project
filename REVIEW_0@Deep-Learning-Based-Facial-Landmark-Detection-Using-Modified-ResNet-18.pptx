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4"/>
  </p:sldMasterIdLst>
  <p:notesMasterIdLst>
    <p:notesMasterId r:id="rId10"/>
  </p:notesMasterIdLst>
  <p:sldIdLst>
    <p:sldId id="256" r:id="rId5"/>
    <p:sldId id="271" r:id="rId6"/>
    <p:sldId id="272" r:id="rId7"/>
    <p:sldId id="258" r:id="rId8"/>
    <p:sldId id="269"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90204"/>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9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9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5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1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500"/>
          </a:xfrm>
          <a:prstGeom prst="rect">
            <a:avLst/>
          </a:prstGeom>
          <a:noFill/>
          <a:ln>
            <a:noFill/>
          </a:ln>
        </p:spPr>
      </p:sp>
      <p:sp>
        <p:nvSpPr>
          <p:cNvPr id="68" name="Google Shape;68;p10"/>
          <p:cNvSpPr txBox="1">
            <a:spLocks noGrp="1"/>
          </p:cNvSpPr>
          <p:nvPr>
            <p:ph type="body" idx="1"/>
          </p:nvPr>
        </p:nvSpPr>
        <p:spPr>
          <a:xfrm>
            <a:off x="839788" y="2057400"/>
            <a:ext cx="39321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00" y="1956625"/>
            <a:ext cx="5811900"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00" y="-596075"/>
            <a:ext cx="5811900"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endParaRPr/>
          </a:p>
        </p:txBody>
      </p:sp>
      <p:sp>
        <p:nvSpPr>
          <p:cNvPr id="11" name="Google Shape;11;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subTitle" idx="1"/>
          </p:nvPr>
        </p:nvSpPr>
        <p:spPr>
          <a:xfrm>
            <a:off x="174594" y="1360714"/>
            <a:ext cx="11842800" cy="5769429"/>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a:p>
            <a:pPr marL="0" lvl="0" indent="0">
              <a:buSzPts val="3200"/>
            </a:pPr>
            <a:r>
              <a:rPr lang="en-US" sz="3600" b="1" dirty="0"/>
              <a:t>Deep Learning-Based Facial Landmark Detection Using Modified ResNet-18 Architecture </a:t>
            </a:r>
            <a:endParaRPr sz="3600" b="1"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3200"/>
              <a:buNone/>
            </a:pPr>
            <a:endParaRPr sz="32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800"/>
              <a:buNone/>
            </a:pPr>
            <a:endParaRPr sz="1800" dirty="0">
              <a:latin typeface="Comic Sans MS" panose="030F0902030302020204"/>
              <a:ea typeface="Comic Sans MS" panose="030F0902030302020204"/>
              <a:cs typeface="Comic Sans MS" panose="030F0902030302020204"/>
              <a:sym typeface="Comic Sans MS" panose="030F0902030302020204"/>
            </a:endParaRPr>
          </a:p>
          <a:p>
            <a:pPr marL="0" lvl="0" indent="0" algn="ctr" rtl="0">
              <a:lnSpc>
                <a:spcPct val="90000"/>
              </a:lnSpc>
              <a:spcBef>
                <a:spcPts val="1000"/>
              </a:spcBef>
              <a:spcAft>
                <a:spcPts val="0"/>
              </a:spcAft>
              <a:buClr>
                <a:schemeClr val="dk1"/>
              </a:buClr>
              <a:buSzPts val="1400"/>
              <a:buNone/>
            </a:pPr>
            <a:endParaRPr sz="1400" dirty="0">
              <a:latin typeface="Comic Sans MS" panose="030F0902030302020204"/>
              <a:ea typeface="Comic Sans MS" panose="030F0902030302020204"/>
              <a:cs typeface="Comic Sans MS" panose="030F0902030302020204"/>
              <a:sym typeface="Comic Sans MS" panose="030F0902030302020204"/>
            </a:endParaRPr>
          </a:p>
        </p:txBody>
      </p:sp>
      <p:sp>
        <p:nvSpPr>
          <p:cNvPr id="89" name="Google Shape;89;p13"/>
          <p:cNvSpPr txBox="1"/>
          <p:nvPr/>
        </p:nvSpPr>
        <p:spPr>
          <a:xfrm>
            <a:off x="2671316" y="-203185"/>
            <a:ext cx="6429600" cy="19389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endParaRPr lang="en-IN" sz="2400" b="1" i="0" u="none" strike="noStrike" cap="none" dirty="0">
              <a:solidFill>
                <a:srgbClr val="0070C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400"/>
              <a:buFont typeface="Arial" panose="020B0604020202090204"/>
              <a:buNone/>
            </a:pPr>
            <a:r>
              <a:rPr lang="en-IN" sz="2400" b="1" i="0" u="none" strike="noStrike" cap="none" dirty="0">
                <a:solidFill>
                  <a:srgbClr val="0070C0"/>
                </a:solidFill>
                <a:latin typeface="Calibri"/>
                <a:ea typeface="Calibri"/>
                <a:cs typeface="Calibri"/>
                <a:sym typeface="Calibri"/>
              </a:rPr>
              <a:t>Review-0</a:t>
            </a:r>
            <a:endParaRPr sz="1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p:txBody>
      </p:sp>
      <p:pic>
        <p:nvPicPr>
          <p:cNvPr id="90" name="Google Shape;90;p13"/>
          <p:cNvPicPr preferRelativeResize="0"/>
          <p:nvPr/>
        </p:nvPicPr>
        <p:blipFill rotWithShape="1">
          <a:blip r:embed="rId3"/>
          <a:srcRect/>
          <a:stretch>
            <a:fillRect/>
          </a:stretch>
        </p:blipFill>
        <p:spPr>
          <a:xfrm>
            <a:off x="2950093" y="354594"/>
            <a:ext cx="6429464" cy="897296"/>
          </a:xfrm>
          <a:prstGeom prst="rect">
            <a:avLst/>
          </a:prstGeom>
          <a:noFill/>
          <a:ln>
            <a:noFill/>
          </a:ln>
        </p:spPr>
      </p:pic>
      <p:sp>
        <p:nvSpPr>
          <p:cNvPr id="91" name="Google Shape;91;p13"/>
          <p:cNvSpPr txBox="1"/>
          <p:nvPr/>
        </p:nvSpPr>
        <p:spPr>
          <a:xfrm>
            <a:off x="1262743" y="3320143"/>
            <a:ext cx="10537369" cy="2803880"/>
          </a:xfrm>
          <a:prstGeom prst="rect">
            <a:avLst/>
          </a:prstGeom>
          <a:noFill/>
          <a:ln>
            <a:noFill/>
          </a:ln>
        </p:spPr>
        <p:txBody>
          <a:bodyPr spcFirstLastPara="1" wrap="square" lIns="91425" tIns="45700" rIns="91425" bIns="45700" anchor="t" anchorCtr="0">
            <a:normAutofit fontScale="25000" lnSpcReduction="20000"/>
          </a:bodyPr>
          <a:lstStyle/>
          <a:p>
            <a:pPr marL="0" marR="0" lvl="0" indent="0" algn="l" rtl="0">
              <a:lnSpc>
                <a:spcPct val="90000"/>
              </a:lnSpc>
              <a:spcBef>
                <a:spcPts val="1000"/>
              </a:spcBef>
              <a:spcAft>
                <a:spcPts val="0"/>
              </a:spcAft>
              <a:buClr>
                <a:schemeClr val="dk1"/>
              </a:buClr>
              <a:buSzPct val="100000"/>
              <a:buFont typeface="Arial" panose="020B0604020202090204"/>
              <a:buNone/>
            </a:pP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DEPARTMENT OF CSE</a:t>
            </a:r>
          </a:p>
          <a:p>
            <a:pPr marL="0" marR="0" lvl="0" indent="0" algn="l" rtl="0">
              <a:lnSpc>
                <a:spcPct val="90000"/>
              </a:lnSpc>
              <a:spcBef>
                <a:spcPts val="1000"/>
              </a:spcBef>
              <a:spcAft>
                <a:spcPts val="0"/>
              </a:spcAft>
              <a:buClr>
                <a:schemeClr val="dk1"/>
              </a:buClr>
              <a:buSzPct val="100000"/>
              <a:buFont typeface="Arial" panose="020B0604020202090204"/>
              <a:buNone/>
            </a:pPr>
            <a:r>
              <a:rPr lang="en-IN" sz="6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BATCH NO : 1</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4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Tea</a:t>
            </a:r>
            <a:r>
              <a:rPr lang="en-IN" sz="7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m Members:</a:t>
            </a:r>
            <a:r>
              <a:rPr lang="en-IN" sz="3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3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Project </a:t>
            </a:r>
            <a:r>
              <a:rPr lang="en-IN" sz="7200" b="1" dirty="0">
                <a:solidFill>
                  <a:schemeClr val="dk1"/>
                </a:solidFill>
                <a:latin typeface="Times New Roman" panose="02020503050405090304"/>
                <a:ea typeface="Times New Roman" panose="02020503050405090304"/>
                <a:cs typeface="Times New Roman" panose="02020503050405090304"/>
                <a:sym typeface="Times New Roman" panose="02020503050405090304"/>
              </a:rPr>
              <a:t>G</a:t>
            </a:r>
            <a:r>
              <a:rPr lang="en-IN" sz="72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uide:</a:t>
            </a:r>
            <a:r>
              <a:rPr lang="en-IN" sz="3400" b="1"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3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p>
          <a:p>
            <a:pPr marL="0" marR="0" lvl="0" indent="0" algn="l" rtl="0">
              <a:lnSpc>
                <a:spcPct val="90000"/>
              </a:lnSpc>
              <a:spcBef>
                <a:spcPts val="1000"/>
              </a:spcBef>
              <a:spcAft>
                <a:spcPts val="0"/>
              </a:spcAft>
              <a:buClr>
                <a:schemeClr val="dk1"/>
              </a:buClr>
              <a:buSzPct val="100000"/>
              <a:buFont typeface="Arial" panose="020B0604020202090204"/>
              <a:buNone/>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1.Vaishnavi Verma</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22P31A05</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B8</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Dr. R V S Lalitha</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lang="en-IN" sz="6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90000"/>
              </a:lnSpc>
              <a:spcBef>
                <a:spcPts val="1000"/>
              </a:spcBef>
              <a:spcAft>
                <a:spcPts val="0"/>
              </a:spcAft>
              <a:buClr>
                <a:schemeClr val="dk1"/>
              </a:buClr>
              <a:buSzPct val="100000"/>
              <a:buFont typeface="Arial" panose="020B0604020202090204"/>
              <a:buNone/>
            </a:pP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Anushka Rajput</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22P31A0578)  				                      </a:t>
            </a:r>
            <a:r>
              <a:rPr lang="en-IN" sz="6400" b="0" i="0" u="none" strike="noStrike" cap="none"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M.Tech</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b="0" i="0" u="none" strike="noStrike" cap="none"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Ph.D</a:t>
            </a:r>
            <a:endParaRPr lang="en-IN" sz="6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90000"/>
              </a:lnSpc>
              <a:spcBef>
                <a:spcPts val="1000"/>
              </a:spcBef>
              <a:spcAft>
                <a:spcPts val="0"/>
              </a:spcAft>
              <a:buClr>
                <a:schemeClr val="dk1"/>
              </a:buClr>
              <a:buSzPct val="100000"/>
              <a:buFont typeface="Arial" panose="020B0604020202090204"/>
              <a:buNone/>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3.Pallab </a:t>
            </a:r>
            <a:r>
              <a:rPr lang="en-IN" sz="6400" dirty="0" err="1">
                <a:solidFill>
                  <a:schemeClr val="dk1"/>
                </a:solidFill>
                <a:latin typeface="Times New Roman" panose="02020503050405090304"/>
                <a:ea typeface="Times New Roman" panose="02020503050405090304"/>
                <a:cs typeface="Times New Roman" panose="02020503050405090304"/>
                <a:sym typeface="Times New Roman" panose="02020503050405090304"/>
              </a:rPr>
              <a:t>mondal</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22P31A05B3)</a:t>
            </a:r>
            <a:endParaRPr sz="6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l" rtl="0">
              <a:lnSpc>
                <a:spcPct val="90000"/>
              </a:lnSpc>
              <a:spcBef>
                <a:spcPts val="1000"/>
              </a:spcBef>
              <a:spcAft>
                <a:spcPts val="0"/>
              </a:spcAft>
              <a:buClr>
                <a:schemeClr val="dk1"/>
              </a:buClr>
              <a:buSzPct val="100000"/>
              <a:buFont typeface="Arial" panose="020B0604020202090204"/>
              <a:buNone/>
            </a:pP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4.Challa Bhargav</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6400" dirty="0">
                <a:solidFill>
                  <a:schemeClr val="dk1"/>
                </a:solidFill>
                <a:latin typeface="Times New Roman" panose="02020503050405090304"/>
                <a:ea typeface="Times New Roman" panose="02020503050405090304"/>
                <a:cs typeface="Times New Roman" panose="02020503050405090304"/>
                <a:sym typeface="Times New Roman" panose="02020503050405090304"/>
              </a:rPr>
              <a:t>(</a:t>
            </a:r>
            <a:r>
              <a:rPr lang="en-IN" sz="6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22P31A0584)                  </a:t>
            </a:r>
            <a:r>
              <a:rPr lang="en-IN" sz="56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sz="56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90000"/>
              </a:lnSpc>
              <a:spcBef>
                <a:spcPts val="1000"/>
              </a:spcBef>
              <a:spcAft>
                <a:spcPts val="0"/>
              </a:spcAft>
              <a:buClr>
                <a:schemeClr val="dk1"/>
              </a:buClr>
              <a:buSzPct val="100000"/>
              <a:buFont typeface="Arial" panose="020B0604020202090204"/>
              <a:buNone/>
            </a:pPr>
            <a:r>
              <a:rPr lang="en-IN" sz="32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sz="1400" b="0" i="0" u="none" strike="noStrike" cap="none" dirty="0">
              <a:solidFill>
                <a:srgbClr val="000000"/>
              </a:solidFill>
              <a:latin typeface="Arial" panose="020B0604020202090204"/>
              <a:ea typeface="Arial" panose="020B0604020202090204"/>
              <a:cs typeface="Arial" panose="020B0604020202090204"/>
              <a:sym typeface="Arial" panose="020B0604020202090204"/>
            </a:endParaRPr>
          </a:p>
          <a:p>
            <a:pPr marL="0" marR="0" lvl="0" indent="0" algn="ctr" rtl="0">
              <a:lnSpc>
                <a:spcPct val="90000"/>
              </a:lnSpc>
              <a:spcBef>
                <a:spcPts val="1000"/>
              </a:spcBef>
              <a:spcAft>
                <a:spcPts val="0"/>
              </a:spcAft>
              <a:buClr>
                <a:schemeClr val="dk1"/>
              </a:buClr>
              <a:buSzPct val="100000"/>
              <a:buFont typeface="Arial" panose="020B0604020202090204"/>
              <a:buNone/>
            </a:pPr>
            <a:r>
              <a:rPr lang="en-IN" sz="32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r>
              <a:rPr lang="en-IN" sz="2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rPr>
              <a:t>	</a:t>
            </a:r>
            <a:endParaRPr sz="2400" b="0" i="0" u="none" strike="noStrike" cap="none" dirty="0">
              <a:solidFill>
                <a:schemeClr val="dk1"/>
              </a:solidFill>
              <a:latin typeface="Times New Roman" panose="02020503050405090304"/>
              <a:ea typeface="Times New Roman" panose="02020503050405090304"/>
              <a:cs typeface="Times New Roman" panose="02020503050405090304"/>
              <a:sym typeface="Times New Roman" panose="0202050305040509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AEAE9-B4FF-2B1B-4FEB-0AA71A6B8B8E}"/>
              </a:ext>
            </a:extLst>
          </p:cNvPr>
          <p:cNvSpPr>
            <a:spLocks noGrp="1"/>
          </p:cNvSpPr>
          <p:nvPr>
            <p:ph type="title"/>
          </p:nvPr>
        </p:nvSpPr>
        <p:spPr>
          <a:xfrm rot="10800000" flipV="1">
            <a:off x="908077" y="1007104"/>
            <a:ext cx="10182709" cy="4902083"/>
          </a:xfrm>
        </p:spPr>
        <p:txBody>
          <a:bodyPr anchor="t">
            <a:normAutofit fontScale="90000"/>
          </a:bodyPr>
          <a:lstStyle/>
          <a:p>
            <a:pPr>
              <a:lnSpc>
                <a:spcPct val="150000"/>
              </a:lnSpc>
            </a:pPr>
            <a:r>
              <a:rPr lang="en-US" sz="27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700"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Problem Statement</a:t>
            </a:r>
            <a:b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br>
            <a:b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br>
            <a:r>
              <a:rPr lang="en-US" sz="2000"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Traditional facial landmark detection techniques struggle to accurately identify facial key points under real-world conditions such as variations in lighting, pose, expression, and occlusion. These conventional models rely heavily on handcrafted features and complex preprocessing, resulting in unstable predictions and limited generalization across diverse datasets.</a:t>
            </a:r>
            <a:br>
              <a:rPr lang="en-US" sz="2000" dirty="0">
                <a:latin typeface="Times New Roman" panose="02020603050405020304" pitchFamily="18" charset="0"/>
                <a:cs typeface="Times New Roman" panose="02020603050405020304" pitchFamily="18" charset="0"/>
              </a:rPr>
            </a:br>
            <a:br>
              <a:rPr lang="en-US" sz="2000"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The problem is to design and develop a deep learning-based model using a modified ResNet-18 architecture capable of accurately predicting 68 facial landmark coordinates from grayscale face images, while ensuring improved robustness, reduced preprocessing, and consistent performance under unconstrained environments.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661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6A744-F38C-E6B6-A367-B102028E1800}"/>
              </a:ext>
            </a:extLst>
          </p:cNvPr>
          <p:cNvSpPr>
            <a:spLocks noGrp="1"/>
          </p:cNvSpPr>
          <p:nvPr>
            <p:ph type="title"/>
          </p:nvPr>
        </p:nvSpPr>
        <p:spPr>
          <a:xfrm>
            <a:off x="838200" y="365124"/>
            <a:ext cx="10515600" cy="5878359"/>
          </a:xfrm>
        </p:spPr>
        <p:txBody>
          <a:bodyPr anchor="t">
            <a:noAutofit/>
          </a:bodyPr>
          <a:lstStyle/>
          <a:p>
            <a:pPr algn="just">
              <a:lnSpc>
                <a:spcPct val="150000"/>
              </a:lnSpc>
            </a:pPr>
            <a:r>
              <a:rPr lang="en-IN" sz="2400" b="1" u="sng" dirty="0"/>
              <a:t>ABSTRACT</a:t>
            </a:r>
            <a:br>
              <a:rPr lang="en-IN" sz="2400" dirty="0"/>
            </a:br>
            <a:br>
              <a:rPr lang="en-IN" sz="1800" dirty="0"/>
            </a:br>
            <a:r>
              <a:rPr lang="en-IN" sz="1800" dirty="0"/>
              <a:t>	</a:t>
            </a:r>
            <a:r>
              <a:rPr lang="en-US" sz="1800" dirty="0"/>
              <a:t>Facial landmark detection is a fundamental task in computer vision, enabling applications such as facial recognition, emotion analysis, head-pose estimation, and augmented reality. This project presents a deep learning-based approach for detecting </a:t>
            </a:r>
            <a:r>
              <a:rPr lang="en-US" sz="1800" b="1" dirty="0"/>
              <a:t>68 facial landmark points</a:t>
            </a:r>
            <a:r>
              <a:rPr lang="en-US" sz="1800" dirty="0"/>
              <a:t> using a </a:t>
            </a:r>
            <a:r>
              <a:rPr lang="en-US" sz="1800" b="1" dirty="0"/>
              <a:t>modified ResNet-18 architecture</a:t>
            </a:r>
            <a:r>
              <a:rPr lang="en-US" sz="1800" dirty="0"/>
              <a:t>. The model processes grayscale face images and learns hierarchical spatial features through convolutional neural networks (CNNs), eliminating the need for complex handcrafted features. By leveraging residual connections and enhanced feature extraction, the proposed system aims to address common challenges in real-world scenarios including lighting variations, occlusions, and pose changes. Preliminary implementation and testing indicate improved prediction stability and generalization compared to traditional methods, laying the foundation for a robust and scalable facial landmark detection framework.</a:t>
            </a:r>
            <a:br>
              <a:rPr lang="en-US" sz="1800" dirty="0"/>
            </a:b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1889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subTitle" idx="1"/>
          </p:nvPr>
        </p:nvSpPr>
        <p:spPr>
          <a:xfrm>
            <a:off x="3559278" y="176981"/>
            <a:ext cx="3529780" cy="698090"/>
          </a:xfrm>
          <a:prstGeom prst="rect">
            <a:avLst/>
          </a:prstGeom>
          <a:noFill/>
          <a:ln>
            <a:noFill/>
          </a:ln>
        </p:spPr>
        <p:txBody>
          <a:bodyPr spcFirstLastPara="1" wrap="square" lIns="91425" tIns="45700" rIns="91425" bIns="45700" anchor="t" anchorCtr="0">
            <a:noAutofit/>
          </a:bodyPr>
          <a:lstStyle/>
          <a:p>
            <a:pPr marL="0" lvl="0" indent="0" algn="just" rtl="0">
              <a:lnSpc>
                <a:spcPct val="115000"/>
              </a:lnSpc>
              <a:spcBef>
                <a:spcPts val="0"/>
              </a:spcBef>
              <a:spcAft>
                <a:spcPts val="0"/>
              </a:spcAft>
              <a:buClr>
                <a:schemeClr val="dk1"/>
              </a:buClr>
              <a:buSzPct val="100000"/>
            </a:pPr>
            <a:r>
              <a:rPr lang="en-IN"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r>
              <a:rPr lang="en-IN" b="1" u="sng"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Motivation/Need</a:t>
            </a:r>
            <a:endPar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a:lnSpc>
                <a:spcPct val="115000"/>
              </a:lnSpc>
              <a:spcBef>
                <a:spcPts val="0"/>
              </a:spcBef>
              <a:buSzPct val="100000"/>
            </a:pPr>
            <a:endPar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a:lnSpc>
                <a:spcPct val="115000"/>
              </a:lnSpc>
              <a:spcBef>
                <a:spcPts val="0"/>
              </a:spcBef>
              <a:buSzPct val="100000"/>
            </a:pPr>
            <a:r>
              <a:rPr lang="en-IN"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r>
              <a:rPr lang="en-IN"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rPr>
              <a:t>	</a:t>
            </a:r>
            <a:endParaRPr lang="en-US" sz="1400" b="1"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100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a:p>
            <a:pPr marL="0" lvl="0" indent="0" algn="just" rtl="0">
              <a:lnSpc>
                <a:spcPct val="115000"/>
              </a:lnSpc>
              <a:spcBef>
                <a:spcPts val="1000"/>
              </a:spcBef>
              <a:spcAft>
                <a:spcPts val="0"/>
              </a:spcAft>
              <a:buClr>
                <a:schemeClr val="dk1"/>
              </a:buClr>
              <a:buSzPct val="100000"/>
              <a:buNone/>
            </a:pPr>
            <a:endParaRPr sz="1400" dirty="0">
              <a:latin typeface="Times New Roman" panose="02020603050405020304" pitchFamily="18" charset="0"/>
              <a:ea typeface="Times New Roman" panose="02020503050405090304"/>
              <a:cs typeface="Times New Roman" panose="02020603050405020304" pitchFamily="18" charset="0"/>
              <a:sym typeface="Times New Roman" panose="02020503050405090304"/>
            </a:endParaRPr>
          </a:p>
        </p:txBody>
      </p:sp>
      <p:sp>
        <p:nvSpPr>
          <p:cNvPr id="2" name="TextBox 1">
            <a:extLst>
              <a:ext uri="{FF2B5EF4-FFF2-40B4-BE49-F238E27FC236}">
                <a16:creationId xmlns:a16="http://schemas.microsoft.com/office/drawing/2014/main" id="{EE7FBD16-A43D-365C-0E9B-D03CC4300F6F}"/>
              </a:ext>
            </a:extLst>
          </p:cNvPr>
          <p:cNvSpPr txBox="1"/>
          <p:nvPr/>
        </p:nvSpPr>
        <p:spPr>
          <a:xfrm>
            <a:off x="953728" y="1278193"/>
            <a:ext cx="9792930" cy="4739759"/>
          </a:xfrm>
          <a:prstGeom prst="rect">
            <a:avLst/>
          </a:prstGeom>
          <a:noFill/>
        </p:spPr>
        <p:txBody>
          <a:bodyPr wrap="square" rtlCol="0">
            <a:spAutoFit/>
          </a:bodyPr>
          <a:lstStyle/>
          <a:p>
            <a:pPr>
              <a:buNone/>
            </a:pPr>
            <a:r>
              <a:rPr lang="en-US" sz="1800" dirty="0"/>
              <a:t>Facial landmark detection plays a crucial role in many modern applications, including face recognition systems, emotion and behavior analysis, augmented reality filters, driver monitoring, and medical diagnostics. However, traditional landmark detection methods often fail in real-world situations due to variations in lighting, pose, facial expressions, and occlusions.</a:t>
            </a:r>
          </a:p>
          <a:p>
            <a:pPr>
              <a:buNone/>
            </a:pPr>
            <a:r>
              <a:rPr lang="en-US" sz="1800" dirty="0"/>
              <a:t>There is a growing need for:</a:t>
            </a:r>
          </a:p>
          <a:p>
            <a:pPr>
              <a:buFont typeface="Arial" panose="020B0604020202020204" pitchFamily="34" charset="0"/>
              <a:buChar char="•"/>
            </a:pPr>
            <a:r>
              <a:rPr lang="en-US" sz="1800" b="1" dirty="0"/>
              <a:t>More accurate and stable landmark prediction models</a:t>
            </a:r>
            <a:r>
              <a:rPr lang="en-US" sz="1800" dirty="0"/>
              <a:t> that perform reliably under uncontrolled environments.</a:t>
            </a:r>
          </a:p>
          <a:p>
            <a:pPr>
              <a:buFont typeface="Arial" panose="020B0604020202020204" pitchFamily="34" charset="0"/>
              <a:buChar char="•"/>
            </a:pPr>
            <a:r>
              <a:rPr lang="en-US" sz="1800" b="1" dirty="0"/>
              <a:t>Deep learning-based approaches</a:t>
            </a:r>
            <a:r>
              <a:rPr lang="en-US" sz="1800" dirty="0"/>
              <a:t> capable of automatically learning discriminative facial features without heavy preprocessing.</a:t>
            </a:r>
          </a:p>
          <a:p>
            <a:pPr>
              <a:buFont typeface="Arial" panose="020B0604020202020204" pitchFamily="34" charset="0"/>
              <a:buChar char="•"/>
            </a:pPr>
            <a:r>
              <a:rPr lang="en-US" sz="1800" b="1" dirty="0"/>
              <a:t>Lightweight and fast architectures</a:t>
            </a:r>
            <a:r>
              <a:rPr lang="en-US" sz="1800" dirty="0"/>
              <a:t> like Modified ResNet-18 that can be deployed in real-time systems such as mobile devices and surveillance systems.</a:t>
            </a:r>
          </a:p>
          <a:p>
            <a:pPr>
              <a:buFont typeface="Arial" panose="020B0604020202020204" pitchFamily="34" charset="0"/>
              <a:buChar char="•"/>
            </a:pPr>
            <a:r>
              <a:rPr lang="en-US" sz="1800" b="1" dirty="0"/>
              <a:t>Generalizable models</a:t>
            </a:r>
            <a:r>
              <a:rPr lang="en-US" sz="1800" dirty="0"/>
              <a:t> that work across diverse datasets, age groups, and facial appearances.</a:t>
            </a:r>
          </a:p>
          <a:p>
            <a:pPr>
              <a:buNone/>
            </a:pPr>
            <a:r>
              <a:rPr lang="en-US" sz="1800" dirty="0"/>
              <a:t>The motivation behind this project is to design a robust, scalable, and efficient facial landmark detection system that bridges the gap between academic research and real-world usability.</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a:spLocks noGrp="1"/>
          </p:cNvSpPr>
          <p:nvPr>
            <p:ph type="subTitle" idx="1"/>
          </p:nvPr>
        </p:nvSpPr>
        <p:spPr>
          <a:xfrm>
            <a:off x="-19099308" y="-9815680"/>
            <a:ext cx="49874010" cy="26282568"/>
          </a:xfrm>
          <a:prstGeom prst="rect">
            <a:avLst/>
          </a:prstGeom>
          <a:noFill/>
          <a:ln>
            <a:noFill/>
          </a:ln>
        </p:spPr>
        <p:txBody>
          <a:bodyPr spcFirstLastPara="1" wrap="square" lIns="91425" tIns="45700" rIns="91425" bIns="45700" anchor="t" anchorCtr="0">
            <a:normAutofit fontScale="95000"/>
          </a:bodyPr>
          <a:lstStyle/>
          <a:p>
            <a:pPr marL="0" lvl="0" indent="0" algn="l" rtl="0">
              <a:lnSpc>
                <a:spcPct val="90000"/>
              </a:lnSpc>
              <a:spcBef>
                <a:spcPts val="0"/>
              </a:spcBef>
              <a:spcAft>
                <a:spcPts val="0"/>
              </a:spcAft>
              <a:buClr>
                <a:schemeClr val="dk1"/>
              </a:buClr>
              <a:buSzPts val="2400"/>
              <a:buNone/>
            </a:pPr>
            <a:r>
              <a:rPr lang="en-US" altLang="en-US" dirty="0">
                <a:latin typeface="Times New Roman" panose="02020503050405090304"/>
                <a:ea typeface="Times New Roman" panose="02020503050405090304"/>
                <a:cs typeface="Times New Roman" panose="02020503050405090304"/>
                <a:sym typeface="Times New Roman" panose="02020503050405090304"/>
              </a:rPr>
              <a:t> </a:t>
            </a: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endParaRPr lang="en-US" altLang="en-US" dirty="0">
              <a:latin typeface="Times New Roman" panose="02020503050405090304"/>
              <a:ea typeface="Times New Roman" panose="02020503050405090304"/>
              <a:cs typeface="Times New Roman" panose="02020503050405090304"/>
              <a:sym typeface="Times New Roman" panose="02020503050405090304"/>
            </a:endParaRPr>
          </a:p>
          <a:p>
            <a:pPr marL="0" lvl="0" indent="0" algn="l" rtl="0">
              <a:lnSpc>
                <a:spcPct val="90000"/>
              </a:lnSpc>
              <a:spcBef>
                <a:spcPts val="0"/>
              </a:spcBef>
              <a:spcAft>
                <a:spcPts val="0"/>
              </a:spcAft>
              <a:buClr>
                <a:schemeClr val="dk1"/>
              </a:buClr>
              <a:buSzPts val="2400"/>
              <a:buNone/>
            </a:pPr>
            <a:r>
              <a:rPr lang="en-US" altLang="en-US" dirty="0">
                <a:latin typeface="Times New Roman" panose="02020503050405090304"/>
                <a:ea typeface="Times New Roman" panose="02020503050405090304"/>
                <a:cs typeface="Times New Roman" panose="02020503050405090304"/>
                <a:sym typeface="Times New Roman" panose="02020503050405090304"/>
              </a:rPr>
              <a:t>				</a:t>
            </a:r>
            <a:endParaRPr lang="en-US" altLang="en-US" sz="4600" dirty="0">
              <a:latin typeface="Times New Roman" panose="02020503050405090304"/>
              <a:ea typeface="Times New Roman" panose="02020503050405090304"/>
              <a:cs typeface="Times New Roman" panose="02020503050405090304"/>
              <a:sym typeface="Times New Roman" panose="02020503050405090304"/>
            </a:endParaRPr>
          </a:p>
        </p:txBody>
      </p:sp>
      <p:pic>
        <p:nvPicPr>
          <p:cNvPr id="2" name="Picture 1">
            <a:extLst>
              <a:ext uri="{FF2B5EF4-FFF2-40B4-BE49-F238E27FC236}">
                <a16:creationId xmlns:a16="http://schemas.microsoft.com/office/drawing/2014/main" id="{782DCD50-C966-2C3D-42E7-BF3F0E5DC8CD}"/>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68B604A0DF2D4429B84CC95D632292D" ma:contentTypeVersion="8" ma:contentTypeDescription="Create a new document." ma:contentTypeScope="" ma:versionID="045e174d82f270d9cd862f8c910ee198">
  <xsd:schema xmlns:xsd="http://www.w3.org/2001/XMLSchema" xmlns:xs="http://www.w3.org/2001/XMLSchema" xmlns:p="http://schemas.microsoft.com/office/2006/metadata/properties" xmlns:ns3="9e7aed07-2637-4e1e-8fdf-729178f45521" targetNamespace="http://schemas.microsoft.com/office/2006/metadata/properties" ma:root="true" ma:fieldsID="2a895f1795534efe2dacc603370507f6" ns3:_="">
    <xsd:import namespace="9e7aed07-2637-4e1e-8fdf-729178f45521"/>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7aed07-2637-4e1e-8fdf-729178f45521"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759729F-9CE9-4086-B408-6037DB522C09}">
  <ds:schemaRefs>
    <ds:schemaRef ds:uri="http://schemas.microsoft.com/sharepoint/v3/contenttype/forms"/>
  </ds:schemaRefs>
</ds:datastoreItem>
</file>

<file path=customXml/itemProps2.xml><?xml version="1.0" encoding="utf-8"?>
<ds:datastoreItem xmlns:ds="http://schemas.openxmlformats.org/officeDocument/2006/customXml" ds:itemID="{16810B6B-8FC2-4FA0-8ECB-947803BC96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7aed07-2637-4e1e-8fdf-729178f4552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D0FC61-AA47-4587-BB73-C3FEA0D556D4}">
  <ds:schemaRefs>
    <ds:schemaRef ds:uri="http://schemas.openxmlformats.org/package/2006/metadata/core-properties"/>
    <ds:schemaRef ds:uri="http://schemas.microsoft.com/office/2006/documentManagement/types"/>
    <ds:schemaRef ds:uri="http://purl.org/dc/terms/"/>
    <ds:schemaRef ds:uri="http://purl.org/dc/dcmitype/"/>
    <ds:schemaRef ds:uri="http://schemas.microsoft.com/office/2006/metadata/properties"/>
    <ds:schemaRef ds:uri="9e7aed07-2637-4e1e-8fdf-729178f45521"/>
    <ds:schemaRef ds:uri="http://schemas.microsoft.com/office/infopath/2007/PartnerControl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329</TotalTime>
  <Words>515</Words>
  <Application>Microsoft Office PowerPoint</Application>
  <PresentationFormat>Widescreen</PresentationFormat>
  <Paragraphs>45</Paragraphs>
  <Slides>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Comic Sans MS</vt:lpstr>
      <vt:lpstr>Times New Roman</vt:lpstr>
      <vt:lpstr>Office Theme</vt:lpstr>
      <vt:lpstr>PowerPoint Presentation</vt:lpstr>
      <vt:lpstr>                                         Problem Statement   Traditional facial landmark detection techniques struggle to accurately identify facial key points under real-world conditions such as variations in lighting, pose, expression, and occlusion. These conventional models rely heavily on handcrafted features and complex preprocessing, resulting in unstable predictions and limited generalization across diverse datasets.  The problem is to design and develop a deep learning-based model using a modified ResNet-18 architecture capable of accurately predicting 68 facial landmark coordinates from grayscale face images, while ensuring improved robustness, reduced preprocessing, and consistent performance under unconstrained environments. </vt:lpstr>
      <vt:lpstr>ABSTRACT   Facial landmark detection is a fundamental task in computer vision, enabling applications such as facial recognition, emotion analysis, head-pose estimation, and augmented reality. This project presents a deep learning-based approach for detecting 68 facial landmark points using a modified ResNet-18 architecture. The model processes grayscale face images and learns hierarchical spatial features through convolutional neural networks (CNNs), eliminating the need for complex handcrafted features. By leveraging residual connections and enhanced feature extraction, the proposed system aims to address common challenges in real-world scenarios including lighting variations, occlusions, and pose changes. Preliminary implementation and testing indicate improved prediction stability and generalization compared to traditional methods, laying the foundation for a robust and scalable facial landmark detection framework.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VEERA HARI</dc:creator>
  <cp:lastModifiedBy>BHARGAV CHALLA</cp:lastModifiedBy>
  <cp:revision>15</cp:revision>
  <dcterms:created xsi:type="dcterms:W3CDTF">2025-12-01T16:24:48Z</dcterms:created>
  <dcterms:modified xsi:type="dcterms:W3CDTF">2025-12-08T15:42:31Z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625E50162666C99350C12D698CBCDC85_43</vt:lpwstr>
  </property>
  <property fmtid="{D5CDD505-2E9C-101B-9397-08002B2CF9AE}" pid="3" name="KSOProductBuildVer">
    <vt:lpwstr>1033-12.1.23152.23152</vt:lpwstr>
  </property>
  <property fmtid="{D5CDD505-2E9C-101B-9397-08002B2CF9AE}" pid="4" name="ContentTypeId">
    <vt:lpwstr>0x010100D68B604A0DF2D4429B84CC95D632292D</vt:lpwstr>
  </property>
</Properties>
</file>