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89" r:id="rId4"/>
  </p:sldMasterIdLst>
  <p:notesMasterIdLst>
    <p:notesMasterId r:id="rId11"/>
  </p:notesMasterIdLst>
  <p:sldIdLst>
    <p:sldId id="256" r:id="rId5"/>
    <p:sldId id="271" r:id="rId6"/>
    <p:sldId id="272" r:id="rId7"/>
    <p:sldId id="258" r:id="rId8"/>
    <p:sldId id="273" r:id="rId9"/>
    <p:sldId id="269"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90204"/>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362509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2944640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631847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06097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644730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124077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917220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57106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69852238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67076393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9254229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44789746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5953476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2974765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4509236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733509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220221254"/>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subTitle" idx="1"/>
          </p:nvPr>
        </p:nvSpPr>
        <p:spPr>
          <a:xfrm>
            <a:off x="174594" y="1360714"/>
            <a:ext cx="11842800" cy="5769429"/>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1400"/>
              <a:buNone/>
            </a:pPr>
            <a:endParaRPr sz="1400" dirty="0">
              <a:latin typeface="Comic Sans MS" panose="030F0902030302020204"/>
              <a:ea typeface="Comic Sans MS" panose="030F0902030302020204"/>
              <a:cs typeface="Comic Sans MS" panose="030F0902030302020204"/>
              <a:sym typeface="Comic Sans MS" panose="030F0902030302020204"/>
            </a:endParaRPr>
          </a:p>
          <a:p>
            <a:pPr marL="0" lvl="0" indent="0" algn="ctr" rtl="0">
              <a:lnSpc>
                <a:spcPct val="90000"/>
              </a:lnSpc>
              <a:spcBef>
                <a:spcPts val="1000"/>
              </a:spcBef>
              <a:spcAft>
                <a:spcPts val="0"/>
              </a:spcAft>
              <a:buClr>
                <a:schemeClr val="dk1"/>
              </a:buClr>
              <a:buSzPts val="1400"/>
              <a:buNone/>
            </a:pPr>
            <a:endParaRPr sz="1400" dirty="0">
              <a:latin typeface="Comic Sans MS" panose="030F0902030302020204"/>
              <a:ea typeface="Comic Sans MS" panose="030F0902030302020204"/>
              <a:cs typeface="Comic Sans MS" panose="030F0902030302020204"/>
              <a:sym typeface="Comic Sans MS" panose="030F0902030302020204"/>
            </a:endParaRPr>
          </a:p>
          <a:p>
            <a:pPr marL="0" lvl="0" indent="0">
              <a:buSzPts val="3200"/>
            </a:pPr>
            <a:r>
              <a:rPr lang="en-US" sz="3600" b="1" dirty="0"/>
              <a:t>Deep Learning-Based Facial Landmark Detection Using Modified ResNet-18 Architecture </a:t>
            </a:r>
            <a:endParaRPr sz="3600" b="1" dirty="0">
              <a:latin typeface="Comic Sans MS" panose="030F0902030302020204"/>
              <a:ea typeface="Comic Sans MS" panose="030F0902030302020204"/>
              <a:cs typeface="Comic Sans MS" panose="030F0902030302020204"/>
              <a:sym typeface="Comic Sans MS" panose="030F0902030302020204"/>
            </a:endParaRPr>
          </a:p>
          <a:p>
            <a:pPr marL="0" lvl="0" indent="0" algn="ctr" rtl="0">
              <a:lnSpc>
                <a:spcPct val="90000"/>
              </a:lnSpc>
              <a:spcBef>
                <a:spcPts val="1000"/>
              </a:spcBef>
              <a:spcAft>
                <a:spcPts val="0"/>
              </a:spcAft>
              <a:buClr>
                <a:schemeClr val="dk1"/>
              </a:buClr>
              <a:buSzPts val="1800"/>
              <a:buNone/>
            </a:pPr>
            <a:endParaRPr sz="1800" dirty="0">
              <a:latin typeface="Comic Sans MS" panose="030F0902030302020204"/>
              <a:ea typeface="Comic Sans MS" panose="030F0902030302020204"/>
              <a:cs typeface="Comic Sans MS" panose="030F0902030302020204"/>
              <a:sym typeface="Comic Sans MS" panose="030F0902030302020204"/>
            </a:endParaRPr>
          </a:p>
          <a:p>
            <a:pPr marL="0" lvl="0" indent="0" algn="ctr" rtl="0">
              <a:lnSpc>
                <a:spcPct val="90000"/>
              </a:lnSpc>
              <a:spcBef>
                <a:spcPts val="1000"/>
              </a:spcBef>
              <a:spcAft>
                <a:spcPts val="0"/>
              </a:spcAft>
              <a:buClr>
                <a:schemeClr val="dk1"/>
              </a:buClr>
              <a:buSzPts val="1800"/>
              <a:buNone/>
            </a:pPr>
            <a:endParaRPr sz="1800" dirty="0">
              <a:latin typeface="Comic Sans MS" panose="030F0902030302020204"/>
              <a:ea typeface="Comic Sans MS" panose="030F0902030302020204"/>
              <a:cs typeface="Comic Sans MS" panose="030F0902030302020204"/>
              <a:sym typeface="Comic Sans MS" panose="030F0902030302020204"/>
            </a:endParaRPr>
          </a:p>
          <a:p>
            <a:pPr marL="0" lvl="0" indent="0" algn="ctr" rtl="0">
              <a:lnSpc>
                <a:spcPct val="90000"/>
              </a:lnSpc>
              <a:spcBef>
                <a:spcPts val="1000"/>
              </a:spcBef>
              <a:spcAft>
                <a:spcPts val="0"/>
              </a:spcAft>
              <a:buClr>
                <a:schemeClr val="dk1"/>
              </a:buClr>
              <a:buSzPts val="3200"/>
              <a:buNone/>
            </a:pPr>
            <a:endParaRPr sz="3200" dirty="0">
              <a:latin typeface="Comic Sans MS" panose="030F0902030302020204"/>
              <a:ea typeface="Comic Sans MS" panose="030F0902030302020204"/>
              <a:cs typeface="Comic Sans MS" panose="030F0902030302020204"/>
              <a:sym typeface="Comic Sans MS" panose="030F0902030302020204"/>
            </a:endParaRPr>
          </a:p>
          <a:p>
            <a:pPr marL="0" lvl="0" indent="0" algn="ctr" rtl="0">
              <a:lnSpc>
                <a:spcPct val="90000"/>
              </a:lnSpc>
              <a:spcBef>
                <a:spcPts val="1000"/>
              </a:spcBef>
              <a:spcAft>
                <a:spcPts val="0"/>
              </a:spcAft>
              <a:buClr>
                <a:schemeClr val="dk1"/>
              </a:buClr>
              <a:buSzPts val="1800"/>
              <a:buNone/>
            </a:pPr>
            <a:endParaRPr sz="1800" dirty="0">
              <a:latin typeface="Comic Sans MS" panose="030F0902030302020204"/>
              <a:ea typeface="Comic Sans MS" panose="030F0902030302020204"/>
              <a:cs typeface="Comic Sans MS" panose="030F0902030302020204"/>
              <a:sym typeface="Comic Sans MS" panose="030F0902030302020204"/>
            </a:endParaRPr>
          </a:p>
          <a:p>
            <a:pPr marL="0" lvl="0" indent="0" algn="ctr" rtl="0">
              <a:lnSpc>
                <a:spcPct val="90000"/>
              </a:lnSpc>
              <a:spcBef>
                <a:spcPts val="1000"/>
              </a:spcBef>
              <a:spcAft>
                <a:spcPts val="0"/>
              </a:spcAft>
              <a:buClr>
                <a:schemeClr val="dk1"/>
              </a:buClr>
              <a:buSzPts val="1800"/>
              <a:buNone/>
            </a:pPr>
            <a:endParaRPr sz="1800" dirty="0">
              <a:latin typeface="Comic Sans MS" panose="030F0902030302020204"/>
              <a:ea typeface="Comic Sans MS" panose="030F0902030302020204"/>
              <a:cs typeface="Comic Sans MS" panose="030F0902030302020204"/>
              <a:sym typeface="Comic Sans MS" panose="030F0902030302020204"/>
            </a:endParaRPr>
          </a:p>
          <a:p>
            <a:pPr marL="0" lvl="0" indent="0" algn="ctr" rtl="0">
              <a:lnSpc>
                <a:spcPct val="90000"/>
              </a:lnSpc>
              <a:spcBef>
                <a:spcPts val="1000"/>
              </a:spcBef>
              <a:spcAft>
                <a:spcPts val="0"/>
              </a:spcAft>
              <a:buClr>
                <a:schemeClr val="dk1"/>
              </a:buClr>
              <a:buSzPts val="1400"/>
              <a:buNone/>
            </a:pPr>
            <a:endParaRPr sz="1400" dirty="0">
              <a:latin typeface="Comic Sans MS" panose="030F0902030302020204"/>
              <a:ea typeface="Comic Sans MS" panose="030F0902030302020204"/>
              <a:cs typeface="Comic Sans MS" panose="030F0902030302020204"/>
              <a:sym typeface="Comic Sans MS" panose="030F0902030302020204"/>
            </a:endParaRPr>
          </a:p>
        </p:txBody>
      </p:sp>
      <p:sp>
        <p:nvSpPr>
          <p:cNvPr id="89" name="Google Shape;89;p13"/>
          <p:cNvSpPr txBox="1"/>
          <p:nvPr/>
        </p:nvSpPr>
        <p:spPr>
          <a:xfrm>
            <a:off x="2671316" y="-203185"/>
            <a:ext cx="6429600"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panose="020B0604020202090204"/>
              <a:buNone/>
            </a:pPr>
            <a:endParaRPr sz="2400" b="1" i="0" u="none" strike="noStrike" cap="none" dirty="0">
              <a:solidFill>
                <a:srgbClr val="0070C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panose="020B0604020202090204"/>
              <a:buNone/>
            </a:pPr>
            <a:endParaRPr sz="2400" b="1" i="0" u="none" strike="noStrike" cap="none" dirty="0">
              <a:solidFill>
                <a:srgbClr val="0070C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panose="020B0604020202090204"/>
              <a:buNone/>
            </a:pPr>
            <a:endParaRPr sz="2400" b="1" i="0" u="none" strike="noStrike" cap="none" dirty="0">
              <a:solidFill>
                <a:srgbClr val="0070C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panose="020B0604020202090204"/>
              <a:buNone/>
            </a:pPr>
            <a:endParaRPr lang="en-IN" sz="2400" b="1" i="0" u="none" strike="noStrike" cap="none" dirty="0">
              <a:solidFill>
                <a:srgbClr val="0070C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panose="020B0604020202090204"/>
              <a:buNone/>
            </a:pPr>
            <a:r>
              <a:rPr lang="en-IN" sz="2400" b="1" i="0" u="none" strike="noStrike" cap="none" dirty="0">
                <a:solidFill>
                  <a:srgbClr val="0070C0"/>
                </a:solidFill>
                <a:latin typeface="Calibri"/>
                <a:ea typeface="Calibri"/>
                <a:cs typeface="Calibri"/>
                <a:sym typeface="Calibri"/>
              </a:rPr>
              <a:t>Review-0</a:t>
            </a:r>
            <a:endParaRPr sz="1400" b="0" i="0" u="none" strike="noStrike" cap="none" dirty="0">
              <a:solidFill>
                <a:srgbClr val="000000"/>
              </a:solidFill>
              <a:latin typeface="Arial" panose="020B0604020202090204"/>
              <a:ea typeface="Arial" panose="020B0604020202090204"/>
              <a:cs typeface="Arial" panose="020B0604020202090204"/>
              <a:sym typeface="Arial" panose="020B0604020202090204"/>
            </a:endParaRPr>
          </a:p>
        </p:txBody>
      </p:sp>
      <p:pic>
        <p:nvPicPr>
          <p:cNvPr id="90" name="Google Shape;90;p13"/>
          <p:cNvPicPr preferRelativeResize="0"/>
          <p:nvPr/>
        </p:nvPicPr>
        <p:blipFill rotWithShape="1">
          <a:blip r:embed="rId3"/>
          <a:srcRect/>
          <a:stretch>
            <a:fillRect/>
          </a:stretch>
        </p:blipFill>
        <p:spPr>
          <a:xfrm>
            <a:off x="2950093" y="354594"/>
            <a:ext cx="6429464" cy="897296"/>
          </a:xfrm>
          <a:prstGeom prst="rect">
            <a:avLst/>
          </a:prstGeom>
          <a:noFill/>
          <a:ln>
            <a:noFill/>
          </a:ln>
        </p:spPr>
      </p:pic>
      <p:sp>
        <p:nvSpPr>
          <p:cNvPr id="91" name="Google Shape;91;p13"/>
          <p:cNvSpPr txBox="1"/>
          <p:nvPr/>
        </p:nvSpPr>
        <p:spPr>
          <a:xfrm>
            <a:off x="1262743" y="3320143"/>
            <a:ext cx="10537369" cy="280388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90000"/>
              </a:lnSpc>
              <a:spcBef>
                <a:spcPts val="1000"/>
              </a:spcBef>
              <a:spcAft>
                <a:spcPts val="0"/>
              </a:spcAft>
              <a:buClr>
                <a:schemeClr val="dk1"/>
              </a:buClr>
              <a:buSzPct val="100000"/>
              <a:buFont typeface="Arial" panose="020B0604020202090204"/>
              <a:buNone/>
            </a:pPr>
            <a:r>
              <a:rPr lang="en-IN" sz="72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DEPARTMENT OF CSE</a:t>
            </a:r>
          </a:p>
          <a:p>
            <a:pPr marL="0" marR="0" lvl="0" indent="0" algn="l" rtl="0">
              <a:lnSpc>
                <a:spcPct val="90000"/>
              </a:lnSpc>
              <a:spcBef>
                <a:spcPts val="1000"/>
              </a:spcBef>
              <a:spcAft>
                <a:spcPts val="0"/>
              </a:spcAft>
              <a:buClr>
                <a:schemeClr val="dk1"/>
              </a:buClr>
              <a:buSzPct val="100000"/>
              <a:buFont typeface="Arial" panose="020B0604020202090204"/>
              <a:buNone/>
            </a:pPr>
            <a:r>
              <a:rPr lang="en-IN" sz="64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BATCH NO : 1</a:t>
            </a:r>
          </a:p>
          <a:p>
            <a:pPr marL="0" marR="0" lvl="0" indent="0" algn="l" rtl="0">
              <a:lnSpc>
                <a:spcPct val="90000"/>
              </a:lnSpc>
              <a:spcBef>
                <a:spcPts val="1000"/>
              </a:spcBef>
              <a:spcAft>
                <a:spcPts val="0"/>
              </a:spcAft>
              <a:buClr>
                <a:schemeClr val="dk1"/>
              </a:buClr>
              <a:buSzPct val="100000"/>
              <a:buFont typeface="Arial" panose="020B0604020202090204"/>
              <a:buNone/>
            </a:pPr>
            <a:r>
              <a:rPr lang="en-IN" sz="42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p>
          <a:p>
            <a:pPr marL="0" marR="0" lvl="0" indent="0" algn="l" rtl="0">
              <a:lnSpc>
                <a:spcPct val="90000"/>
              </a:lnSpc>
              <a:spcBef>
                <a:spcPts val="1000"/>
              </a:spcBef>
              <a:spcAft>
                <a:spcPts val="0"/>
              </a:spcAft>
              <a:buClr>
                <a:schemeClr val="dk1"/>
              </a:buClr>
              <a:buSzPct val="100000"/>
              <a:buFont typeface="Arial" panose="020B0604020202090204"/>
              <a:buNone/>
            </a:pPr>
            <a:r>
              <a:rPr lang="en-IN" sz="42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p>
          <a:p>
            <a:pPr marL="0" marR="0" lvl="0" indent="0" algn="l" rtl="0">
              <a:lnSpc>
                <a:spcPct val="90000"/>
              </a:lnSpc>
              <a:spcBef>
                <a:spcPts val="1000"/>
              </a:spcBef>
              <a:spcAft>
                <a:spcPts val="0"/>
              </a:spcAft>
              <a:buClr>
                <a:schemeClr val="dk1"/>
              </a:buClr>
              <a:buSzPct val="100000"/>
              <a:buFont typeface="Arial" panose="020B0604020202090204"/>
              <a:buNone/>
            </a:pPr>
            <a:r>
              <a:rPr lang="en-IN" sz="4200" b="1"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72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Tea</a:t>
            </a:r>
            <a:r>
              <a:rPr lang="en-IN" sz="7200" b="1" dirty="0">
                <a:solidFill>
                  <a:schemeClr val="dk1"/>
                </a:solidFill>
                <a:latin typeface="Times New Roman" panose="02020503050405090304"/>
                <a:ea typeface="Times New Roman" panose="02020503050405090304"/>
                <a:cs typeface="Times New Roman" panose="02020503050405090304"/>
                <a:sym typeface="Times New Roman" panose="02020503050405090304"/>
              </a:rPr>
              <a:t>m Members:</a:t>
            </a:r>
            <a:r>
              <a:rPr lang="en-IN" sz="3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34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72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Project </a:t>
            </a:r>
            <a:r>
              <a:rPr lang="en-IN" sz="7200" b="1" dirty="0">
                <a:solidFill>
                  <a:schemeClr val="dk1"/>
                </a:solidFill>
                <a:latin typeface="Times New Roman" panose="02020503050405090304"/>
                <a:ea typeface="Times New Roman" panose="02020503050405090304"/>
                <a:cs typeface="Times New Roman" panose="02020503050405090304"/>
                <a:sym typeface="Times New Roman" panose="02020503050405090304"/>
              </a:rPr>
              <a:t>G</a:t>
            </a:r>
            <a:r>
              <a:rPr lang="en-IN" sz="72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uide:</a:t>
            </a:r>
            <a:r>
              <a:rPr lang="en-IN" sz="34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3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p>
          <a:p>
            <a:pPr marL="0" marR="0" lvl="0" indent="0" algn="l" rtl="0">
              <a:lnSpc>
                <a:spcPct val="90000"/>
              </a:lnSpc>
              <a:spcBef>
                <a:spcPts val="1000"/>
              </a:spcBef>
              <a:spcAft>
                <a:spcPts val="0"/>
              </a:spcAft>
              <a:buClr>
                <a:schemeClr val="dk1"/>
              </a:buClr>
              <a:buSzPct val="100000"/>
              <a:buFont typeface="Arial" panose="020B0604020202090204"/>
              <a:buNone/>
            </a:pPr>
            <a:r>
              <a:rPr lang="en-IN" sz="64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1. Vaishnavi Verma</a:t>
            </a: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64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a:t>
            </a: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22P31A05</a:t>
            </a:r>
            <a:r>
              <a:rPr lang="en-IN" sz="64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B8</a:t>
            </a: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64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Dr. R V S Lalitha</a:t>
            </a: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endParaRPr lang="en-IN" sz="6400" b="0" i="0" u="none" strike="noStrike" cap="none" dirty="0">
              <a:solidFill>
                <a:srgbClr val="000000"/>
              </a:solidFill>
              <a:latin typeface="Arial" panose="020B0604020202090204"/>
              <a:ea typeface="Arial" panose="020B0604020202090204"/>
              <a:cs typeface="Arial" panose="020B0604020202090204"/>
              <a:sym typeface="Arial" panose="020B0604020202090204"/>
            </a:endParaRPr>
          </a:p>
          <a:p>
            <a:pPr lvl="0">
              <a:lnSpc>
                <a:spcPct val="90000"/>
              </a:lnSpc>
              <a:spcBef>
                <a:spcPts val="1000"/>
              </a:spcBef>
              <a:buClr>
                <a:schemeClr val="dk1"/>
              </a:buClr>
              <a:buSzPct val="100000"/>
            </a:pP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64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2. Challa Bhargav (22P31A0584) </a:t>
            </a: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6400" b="0" i="0" u="none" strike="noStrike" cap="none" dirty="0" err="1">
                <a:solidFill>
                  <a:schemeClr val="dk1"/>
                </a:solidFill>
                <a:latin typeface="Times New Roman" panose="02020503050405090304"/>
                <a:ea typeface="Times New Roman" panose="02020503050405090304"/>
                <a:cs typeface="Times New Roman" panose="02020503050405090304"/>
                <a:sym typeface="Times New Roman" panose="02020503050405090304"/>
              </a:rPr>
              <a:t>M.Tech</a:t>
            </a: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6400" b="0" i="0" u="none" strike="noStrike" cap="none" dirty="0" err="1">
                <a:solidFill>
                  <a:schemeClr val="dk1"/>
                </a:solidFill>
                <a:latin typeface="Times New Roman" panose="02020503050405090304"/>
                <a:ea typeface="Times New Roman" panose="02020503050405090304"/>
                <a:cs typeface="Times New Roman" panose="02020503050405090304"/>
                <a:sym typeface="Times New Roman" panose="02020503050405090304"/>
              </a:rPr>
              <a:t>Ph.D</a:t>
            </a:r>
            <a:endParaRPr lang="en-IN" sz="6400" b="0" i="0" u="none" strike="noStrike" cap="none" dirty="0">
              <a:solidFill>
                <a:srgbClr val="000000"/>
              </a:solidFill>
              <a:latin typeface="Arial" panose="020B0604020202090204"/>
              <a:ea typeface="Arial" panose="020B0604020202090204"/>
              <a:cs typeface="Arial" panose="020B0604020202090204"/>
              <a:sym typeface="Arial" panose="020B0604020202090204"/>
            </a:endParaRPr>
          </a:p>
          <a:p>
            <a:pPr lvl="0">
              <a:lnSpc>
                <a:spcPct val="90000"/>
              </a:lnSpc>
              <a:spcBef>
                <a:spcPts val="1000"/>
              </a:spcBef>
              <a:buClr>
                <a:schemeClr val="dk1"/>
              </a:buClr>
              <a:buSzPct val="100000"/>
            </a:pPr>
            <a:r>
              <a:rPr lang="en-IN" sz="64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3. Anushka Rajput(22P31A0578) </a:t>
            </a:r>
          </a:p>
          <a:p>
            <a:pPr>
              <a:lnSpc>
                <a:spcPct val="90000"/>
              </a:lnSpc>
              <a:spcBef>
                <a:spcPts val="1000"/>
              </a:spcBef>
              <a:buClr>
                <a:schemeClr val="dk1"/>
              </a:buClr>
              <a:buSzPct val="100000"/>
            </a:pPr>
            <a:r>
              <a:rPr lang="en-IN" sz="64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4.</a:t>
            </a:r>
            <a:r>
              <a:rPr lang="en-IN" sz="60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Pallab Mondal(22P31A05B3)</a:t>
            </a:r>
            <a:endParaRPr lang="en-IN" sz="6000" dirty="0"/>
          </a:p>
          <a:p>
            <a:pPr lvl="0">
              <a:lnSpc>
                <a:spcPct val="90000"/>
              </a:lnSpc>
              <a:spcBef>
                <a:spcPts val="1000"/>
              </a:spcBef>
              <a:buClr>
                <a:schemeClr val="dk1"/>
              </a:buClr>
              <a:buSzPct val="100000"/>
            </a:pPr>
            <a:endParaRPr lang="en-IN" sz="5600" b="0" i="0" u="none" strike="noStrike" cap="none" dirty="0">
              <a:solidFill>
                <a:srgbClr val="000000"/>
              </a:solidFill>
              <a:latin typeface="Arial" panose="020B0604020202090204"/>
              <a:ea typeface="Arial" panose="020B0604020202090204"/>
              <a:cs typeface="Arial" panose="020B0604020202090204"/>
              <a:sym typeface="Arial" panose="020B0604020202090204"/>
            </a:endParaRPr>
          </a:p>
          <a:p>
            <a:pPr marL="0" marR="0" lvl="0" indent="0" algn="ctr" rtl="0">
              <a:lnSpc>
                <a:spcPct val="90000"/>
              </a:lnSpc>
              <a:spcBef>
                <a:spcPts val="1000"/>
              </a:spcBef>
              <a:spcAft>
                <a:spcPts val="0"/>
              </a:spcAft>
              <a:buClr>
                <a:schemeClr val="dk1"/>
              </a:buClr>
              <a:buSzPct val="100000"/>
              <a:buFont typeface="Arial" panose="020B0604020202090204"/>
              <a:buNone/>
            </a:pPr>
            <a:r>
              <a:rPr lang="en-IN" sz="32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endParaRPr sz="1400" b="0" i="0" u="none" strike="noStrike" cap="none" dirty="0">
              <a:solidFill>
                <a:srgbClr val="000000"/>
              </a:solidFill>
              <a:latin typeface="Arial" panose="020B0604020202090204"/>
              <a:ea typeface="Arial" panose="020B0604020202090204"/>
              <a:cs typeface="Arial" panose="020B0604020202090204"/>
              <a:sym typeface="Arial" panose="020B0604020202090204"/>
            </a:endParaRPr>
          </a:p>
          <a:p>
            <a:pPr marL="0" marR="0" lvl="0" indent="0" algn="ctr" rtl="0">
              <a:lnSpc>
                <a:spcPct val="90000"/>
              </a:lnSpc>
              <a:spcBef>
                <a:spcPts val="1000"/>
              </a:spcBef>
              <a:spcAft>
                <a:spcPts val="0"/>
              </a:spcAft>
              <a:buClr>
                <a:schemeClr val="dk1"/>
              </a:buClr>
              <a:buSzPct val="100000"/>
              <a:buFont typeface="Arial" panose="020B0604020202090204"/>
              <a:buNone/>
            </a:pPr>
            <a:r>
              <a:rPr lang="en-IN" sz="32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2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endParaRPr sz="2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AEAE9-B4FF-2B1B-4FEB-0AA71A6B8B8E}"/>
              </a:ext>
            </a:extLst>
          </p:cNvPr>
          <p:cNvSpPr>
            <a:spLocks noGrp="1"/>
          </p:cNvSpPr>
          <p:nvPr>
            <p:ph type="title"/>
          </p:nvPr>
        </p:nvSpPr>
        <p:spPr>
          <a:xfrm rot="10800000" flipV="1">
            <a:off x="908077" y="1007104"/>
            <a:ext cx="10182709" cy="4902083"/>
          </a:xfrm>
        </p:spPr>
        <p:txBody>
          <a:bodyPr anchor="t">
            <a:normAutofit fontScale="90000"/>
          </a:bodyPr>
          <a:lstStyle/>
          <a:p>
            <a:pPr>
              <a:lnSpc>
                <a:spcPct val="150000"/>
              </a:lnSpc>
            </a:pPr>
            <a:r>
              <a:rPr lang="en-US" sz="27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700" b="1"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Problem Statement</a:t>
            </a:r>
            <a:b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br>
            <a:b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b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Traditional facial landmark detection techniques struggle to accurately identify facial key points under real-world conditions such as variations in lighting, pose, expression, and occlusion. These conventional models rely heavily on handcrafted features and complex preprocessing, resulting in unstable predictions and limited generalization across diverse datasets.</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The problem is to design and develop a deep learning-based model using a modified ResNet-18 architecture capable of accurately predicting 68 facial landmark coordinates from grayscale face images, while ensuring improved robustness, reduced preprocessing, and consistent performance under unconstrained environments.</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661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6A744-F38C-E6B6-A367-B102028E1800}"/>
              </a:ext>
            </a:extLst>
          </p:cNvPr>
          <p:cNvSpPr>
            <a:spLocks noGrp="1"/>
          </p:cNvSpPr>
          <p:nvPr>
            <p:ph type="title"/>
          </p:nvPr>
        </p:nvSpPr>
        <p:spPr>
          <a:xfrm>
            <a:off x="838200" y="365124"/>
            <a:ext cx="10515600" cy="5878359"/>
          </a:xfrm>
        </p:spPr>
        <p:txBody>
          <a:bodyPr anchor="t">
            <a:noAutofit/>
          </a:bodyPr>
          <a:lstStyle/>
          <a:p>
            <a:pPr algn="just">
              <a:lnSpc>
                <a:spcPct val="150000"/>
              </a:lnSpc>
            </a:pPr>
            <a:r>
              <a:rPr lang="en-IN" sz="2400" b="1" u="sng" dirty="0"/>
              <a:t>ABSTRACT</a:t>
            </a:r>
            <a:br>
              <a:rPr lang="en-IN" sz="2400" dirty="0"/>
            </a:br>
            <a:br>
              <a:rPr lang="en-IN" sz="1800" dirty="0"/>
            </a:br>
            <a:r>
              <a:rPr lang="en-IN" sz="1800" dirty="0"/>
              <a:t>	</a:t>
            </a:r>
            <a:r>
              <a:rPr lang="en-US" sz="1800" dirty="0"/>
              <a:t>Facial landmark detection is a fundamental task in computer vision, enabling applications such as facial recognition, emotion analysis, head-pose estimation, and augmented reality. This project presents a deep learning-based approach for detecting </a:t>
            </a:r>
            <a:r>
              <a:rPr lang="en-US" sz="1800" b="1" dirty="0"/>
              <a:t>68 facial landmark points</a:t>
            </a:r>
            <a:r>
              <a:rPr lang="en-US" sz="1800" dirty="0"/>
              <a:t> using a </a:t>
            </a:r>
            <a:r>
              <a:rPr lang="en-US" sz="1800" b="1" dirty="0"/>
              <a:t>modified ResNet-18 architecture</a:t>
            </a:r>
            <a:r>
              <a:rPr lang="en-US" sz="1800" dirty="0"/>
              <a:t>. The model processes grayscale face images and learns hierarchical spatial features through convolutional neural networks (CNNs), eliminating the need for complex handcrafted features. By leveraging residual connections and enhanced feature extraction, the proposed system aims to </a:t>
            </a:r>
            <a:br>
              <a:rPr lang="en-US" sz="1800" dirty="0"/>
            </a:br>
            <a:r>
              <a:rPr lang="en-US" sz="1800" dirty="0"/>
              <a:t>address common challenges in real-world scenarios including lighting variations, occlusions, and pose changes. Preliminary implementation and testing indicate improved </a:t>
            </a:r>
            <a:br>
              <a:rPr lang="en-US" sz="1800" dirty="0"/>
            </a:br>
            <a:r>
              <a:rPr lang="en-US" sz="1800" dirty="0"/>
              <a:t>prediction stability and generalization compared to traditional methods, laying the foundation for a robust and scalable facial landmark detection framework.</a:t>
            </a:r>
            <a:br>
              <a:rPr lang="en-US" sz="1800" dirty="0"/>
            </a:b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1889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subTitle" idx="1"/>
          </p:nvPr>
        </p:nvSpPr>
        <p:spPr>
          <a:xfrm>
            <a:off x="4227872" y="357402"/>
            <a:ext cx="3529780" cy="698090"/>
          </a:xfrm>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0"/>
              </a:spcBef>
              <a:spcAft>
                <a:spcPts val="0"/>
              </a:spcAft>
              <a:buClr>
                <a:schemeClr val="dk1"/>
              </a:buClr>
              <a:buSzPct val="100000"/>
            </a:pPr>
            <a:r>
              <a:rPr lang="en-IN" sz="1400" b="1" dirty="0">
                <a:latin typeface="Times New Roman" panose="02020603050405020304" pitchFamily="18" charset="0"/>
                <a:ea typeface="Times New Roman" panose="02020503050405090304"/>
                <a:cs typeface="Times New Roman" panose="02020603050405020304" pitchFamily="18" charset="0"/>
                <a:sym typeface="Times New Roman" panose="02020503050405090304"/>
              </a:rPr>
              <a:t>	</a:t>
            </a:r>
            <a:r>
              <a:rPr lang="en-IN" b="1" u="sng" dirty="0">
                <a:latin typeface="Times New Roman" panose="02020603050405020304" pitchFamily="18" charset="0"/>
                <a:ea typeface="Times New Roman" panose="02020503050405090304"/>
                <a:cs typeface="Times New Roman" panose="02020603050405020304" pitchFamily="18" charset="0"/>
                <a:sym typeface="Times New Roman" panose="02020503050405090304"/>
              </a:rPr>
              <a:t>Motivation/Need</a:t>
            </a:r>
            <a:endParaRPr lang="en-IN" sz="1400" dirty="0">
              <a:latin typeface="Times New Roman" panose="02020603050405020304" pitchFamily="18" charset="0"/>
              <a:ea typeface="Times New Roman" panose="02020503050405090304"/>
              <a:cs typeface="Times New Roman" panose="02020603050405020304" pitchFamily="18" charset="0"/>
              <a:sym typeface="Times New Roman" panose="02020503050405090304"/>
            </a:endParaRPr>
          </a:p>
          <a:p>
            <a:pPr marL="0" lvl="0" indent="0" algn="just">
              <a:lnSpc>
                <a:spcPct val="115000"/>
              </a:lnSpc>
              <a:spcBef>
                <a:spcPts val="0"/>
              </a:spcBef>
              <a:buSzPct val="100000"/>
            </a:pPr>
            <a:endParaRPr lang="en-IN" sz="1400" dirty="0">
              <a:latin typeface="Times New Roman" panose="02020603050405020304" pitchFamily="18" charset="0"/>
              <a:ea typeface="Times New Roman" panose="02020503050405090304"/>
              <a:cs typeface="Times New Roman" panose="02020603050405020304" pitchFamily="18" charset="0"/>
              <a:sym typeface="Times New Roman" panose="02020503050405090304"/>
            </a:endParaRPr>
          </a:p>
          <a:p>
            <a:pPr marL="0" lvl="0" indent="0" algn="just">
              <a:lnSpc>
                <a:spcPct val="115000"/>
              </a:lnSpc>
              <a:spcBef>
                <a:spcPts val="0"/>
              </a:spcBef>
              <a:buSzPct val="100000"/>
            </a:pPr>
            <a:r>
              <a:rPr lang="en-IN" sz="1400" dirty="0">
                <a:latin typeface="Times New Roman" panose="02020603050405020304" pitchFamily="18" charset="0"/>
                <a:ea typeface="Times New Roman" panose="02020503050405090304"/>
                <a:cs typeface="Times New Roman" panose="02020603050405020304" pitchFamily="18" charset="0"/>
                <a:sym typeface="Times New Roman" panose="02020503050405090304"/>
              </a:rPr>
              <a:t>         		</a:t>
            </a:r>
            <a:r>
              <a:rPr lang="en-IN" sz="1400" b="1" dirty="0">
                <a:latin typeface="Times New Roman" panose="02020603050405020304" pitchFamily="18" charset="0"/>
                <a:ea typeface="Times New Roman" panose="02020503050405090304"/>
                <a:cs typeface="Times New Roman" panose="02020603050405020304" pitchFamily="18" charset="0"/>
                <a:sym typeface="Times New Roman" panose="02020503050405090304"/>
              </a:rPr>
              <a:t>	</a:t>
            </a:r>
            <a:endParaRPr lang="en-US" sz="1400" b="1" dirty="0">
              <a:latin typeface="Times New Roman" panose="02020603050405020304" pitchFamily="18" charset="0"/>
              <a:ea typeface="Times New Roman" panose="02020503050405090304"/>
              <a:cs typeface="Times New Roman" panose="02020603050405020304" pitchFamily="18" charset="0"/>
              <a:sym typeface="Times New Roman" panose="02020503050405090304"/>
            </a:endParaRPr>
          </a:p>
          <a:p>
            <a:pPr marL="0" lvl="0" indent="0" algn="just" rtl="0">
              <a:lnSpc>
                <a:spcPct val="115000"/>
              </a:lnSpc>
              <a:spcBef>
                <a:spcPts val="0"/>
              </a:spcBef>
              <a:spcAft>
                <a:spcPts val="0"/>
              </a:spcAft>
              <a:buClr>
                <a:schemeClr val="dk1"/>
              </a:buClr>
              <a:buSzPct val="100000"/>
              <a:buNone/>
            </a:pPr>
            <a:endParaRPr sz="1400" dirty="0">
              <a:latin typeface="Times New Roman" panose="02020603050405020304" pitchFamily="18" charset="0"/>
              <a:ea typeface="Times New Roman" panose="02020503050405090304"/>
              <a:cs typeface="Times New Roman" panose="02020603050405020304" pitchFamily="18" charset="0"/>
              <a:sym typeface="Times New Roman" panose="02020503050405090304"/>
            </a:endParaRPr>
          </a:p>
          <a:p>
            <a:pPr marL="0" lvl="0" indent="0" algn="just" rtl="0">
              <a:lnSpc>
                <a:spcPct val="115000"/>
              </a:lnSpc>
              <a:spcBef>
                <a:spcPts val="1000"/>
              </a:spcBef>
              <a:spcAft>
                <a:spcPts val="0"/>
              </a:spcAft>
              <a:buClr>
                <a:schemeClr val="dk1"/>
              </a:buClr>
              <a:buSzPct val="100000"/>
              <a:buNone/>
            </a:pPr>
            <a:endParaRPr sz="1400" dirty="0">
              <a:latin typeface="Times New Roman" panose="02020603050405020304" pitchFamily="18" charset="0"/>
              <a:ea typeface="Times New Roman" panose="02020503050405090304"/>
              <a:cs typeface="Times New Roman" panose="02020603050405020304" pitchFamily="18" charset="0"/>
              <a:sym typeface="Times New Roman" panose="02020503050405090304"/>
            </a:endParaRPr>
          </a:p>
          <a:p>
            <a:pPr marL="0" lvl="0" indent="0" algn="just" rtl="0">
              <a:lnSpc>
                <a:spcPct val="115000"/>
              </a:lnSpc>
              <a:spcBef>
                <a:spcPts val="1000"/>
              </a:spcBef>
              <a:spcAft>
                <a:spcPts val="0"/>
              </a:spcAft>
              <a:buClr>
                <a:schemeClr val="dk1"/>
              </a:buClr>
              <a:buSzPct val="100000"/>
              <a:buNone/>
            </a:pPr>
            <a:endParaRPr sz="1400" dirty="0">
              <a:latin typeface="Times New Roman" panose="02020603050405020304" pitchFamily="18" charset="0"/>
              <a:ea typeface="Times New Roman" panose="02020503050405090304"/>
              <a:cs typeface="Times New Roman" panose="02020603050405020304" pitchFamily="18" charset="0"/>
              <a:sym typeface="Times New Roman" panose="02020503050405090304"/>
            </a:endParaRPr>
          </a:p>
        </p:txBody>
      </p:sp>
      <p:sp>
        <p:nvSpPr>
          <p:cNvPr id="2" name="TextBox 1">
            <a:extLst>
              <a:ext uri="{FF2B5EF4-FFF2-40B4-BE49-F238E27FC236}">
                <a16:creationId xmlns:a16="http://schemas.microsoft.com/office/drawing/2014/main" id="{EE7FBD16-A43D-365C-0E9B-D03CC4300F6F}"/>
              </a:ext>
            </a:extLst>
          </p:cNvPr>
          <p:cNvSpPr txBox="1"/>
          <p:nvPr/>
        </p:nvSpPr>
        <p:spPr>
          <a:xfrm>
            <a:off x="953728" y="1278193"/>
            <a:ext cx="9792930" cy="4524315"/>
          </a:xfrm>
          <a:prstGeom prst="rect">
            <a:avLst/>
          </a:prstGeom>
          <a:noFill/>
        </p:spPr>
        <p:txBody>
          <a:bodyPr wrap="square" rtlCol="0">
            <a:spAutoFit/>
          </a:bodyPr>
          <a:lstStyle/>
          <a:p>
            <a:pPr>
              <a:buNone/>
            </a:pPr>
            <a:r>
              <a:rPr lang="en-US" sz="1800" dirty="0">
                <a:latin typeface="Calibri" panose="020F0502020204030204" pitchFamily="34" charset="0"/>
                <a:ea typeface="Calibri" panose="020F0502020204030204" pitchFamily="34" charset="0"/>
                <a:cs typeface="Calibri" panose="020F0502020204030204" pitchFamily="34" charset="0"/>
              </a:rPr>
              <a:t>Facial landmark detection plays a crucial role in many modern applications, including face recognition systems, emotion and behavior analysis, augmented reality filters, driver monitoring, and medical diagnostics. However, traditional landmark detection methods often fail in real-world situations due to variations in lighting, pose, facial expressions, and occlusions.</a:t>
            </a:r>
          </a:p>
          <a:p>
            <a:pPr>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a:buNone/>
            </a:pPr>
            <a:r>
              <a:rPr lang="en-US" sz="1800" dirty="0">
                <a:latin typeface="Calibri" panose="020F0502020204030204" pitchFamily="34" charset="0"/>
                <a:ea typeface="Calibri" panose="020F0502020204030204" pitchFamily="34" charset="0"/>
                <a:cs typeface="Calibri" panose="020F0502020204030204" pitchFamily="34" charset="0"/>
              </a:rPr>
              <a:t>There is a growing need for:</a:t>
            </a:r>
          </a:p>
          <a:p>
            <a:pPr marL="285750" indent="-285750">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More accurate and stable landmark prediction models</a:t>
            </a:r>
            <a:r>
              <a:rPr lang="en-US" sz="1800" dirty="0">
                <a:latin typeface="Calibri" panose="020F0502020204030204" pitchFamily="34" charset="0"/>
                <a:ea typeface="Calibri" panose="020F0502020204030204" pitchFamily="34" charset="0"/>
                <a:cs typeface="Calibri" panose="020F0502020204030204" pitchFamily="34" charset="0"/>
              </a:rPr>
              <a:t> that perform reliably under uncontrolled environments.</a:t>
            </a:r>
          </a:p>
          <a:p>
            <a:pPr marL="285750" indent="-285750">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Deep learning-based approaches</a:t>
            </a:r>
            <a:r>
              <a:rPr lang="en-US" sz="1800" dirty="0">
                <a:latin typeface="Calibri" panose="020F0502020204030204" pitchFamily="34" charset="0"/>
                <a:ea typeface="Calibri" panose="020F0502020204030204" pitchFamily="34" charset="0"/>
                <a:cs typeface="Calibri" panose="020F0502020204030204" pitchFamily="34" charset="0"/>
              </a:rPr>
              <a:t> capable of automatically learning discriminative facial features without heavy preprocessing.</a:t>
            </a:r>
          </a:p>
          <a:p>
            <a:pPr marL="285750" indent="-285750">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Lightweight and fast architectures</a:t>
            </a:r>
            <a:r>
              <a:rPr lang="en-US" sz="1800" dirty="0">
                <a:latin typeface="Calibri" panose="020F0502020204030204" pitchFamily="34" charset="0"/>
                <a:ea typeface="Calibri" panose="020F0502020204030204" pitchFamily="34" charset="0"/>
                <a:cs typeface="Calibri" panose="020F0502020204030204" pitchFamily="34" charset="0"/>
              </a:rPr>
              <a:t> like Modified ResNet-18 that can be deployed in real-time systems such as mobile devices and surveillance systems.</a:t>
            </a:r>
          </a:p>
          <a:p>
            <a:pPr marL="285750" indent="-285750">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Generalizable models</a:t>
            </a:r>
            <a:r>
              <a:rPr lang="en-US" sz="1800" dirty="0">
                <a:latin typeface="Calibri" panose="020F0502020204030204" pitchFamily="34" charset="0"/>
                <a:ea typeface="Calibri" panose="020F0502020204030204" pitchFamily="34" charset="0"/>
                <a:cs typeface="Calibri" panose="020F0502020204030204" pitchFamily="34" charset="0"/>
              </a:rPr>
              <a:t> that work across diverse datasets, age groups, and facial appearances.</a:t>
            </a:r>
          </a:p>
          <a:p>
            <a:pPr marL="285750"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motivation behind this project is to design a robust, scalable, and efficient facial landmark detection system that bridges the gap between academic research and real-world usability.</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AB898-0946-A71E-0BC9-5C1E2FA4D1EA}"/>
              </a:ext>
            </a:extLst>
          </p:cNvPr>
          <p:cNvSpPr>
            <a:spLocks noGrp="1"/>
          </p:cNvSpPr>
          <p:nvPr>
            <p:ph type="title"/>
          </p:nvPr>
        </p:nvSpPr>
        <p:spPr>
          <a:xfrm>
            <a:off x="831850" y="824835"/>
            <a:ext cx="10515600" cy="679501"/>
          </a:xfrm>
        </p:spPr>
        <p:txBody>
          <a:bodyPr>
            <a:normAutofit/>
          </a:bodyPr>
          <a:lstStyle/>
          <a:p>
            <a:pPr algn="ctr"/>
            <a:r>
              <a:rPr lang="en-US" sz="2800" b="1" u="sng" dirty="0"/>
              <a:t>Technologies that would be used</a:t>
            </a:r>
            <a:endParaRPr lang="en-IN" sz="2800" b="1" u="sng" dirty="0"/>
          </a:p>
        </p:txBody>
      </p:sp>
      <p:sp>
        <p:nvSpPr>
          <p:cNvPr id="3" name="Text Placeholder 2">
            <a:extLst>
              <a:ext uri="{FF2B5EF4-FFF2-40B4-BE49-F238E27FC236}">
                <a16:creationId xmlns:a16="http://schemas.microsoft.com/office/drawing/2014/main" id="{7ABF3E80-A105-E9FA-EA1B-09E64E759179}"/>
              </a:ext>
            </a:extLst>
          </p:cNvPr>
          <p:cNvSpPr>
            <a:spLocks noGrp="1"/>
          </p:cNvSpPr>
          <p:nvPr>
            <p:ph type="body" idx="1"/>
          </p:nvPr>
        </p:nvSpPr>
        <p:spPr>
          <a:xfrm>
            <a:off x="1579102" y="2642357"/>
            <a:ext cx="7456744" cy="2660763"/>
          </a:xfrm>
        </p:spPr>
        <p:txBody>
          <a:bodyPr>
            <a:normAutofit/>
          </a:bodyPr>
          <a:lstStyle/>
          <a:p>
            <a:pPr marL="571500" indent="-342900">
              <a:buFont typeface="Arial" panose="020B0604020202020204" pitchFamily="34" charset="0"/>
              <a:buChar char="•"/>
            </a:pPr>
            <a:r>
              <a:rPr lang="en-US" sz="1800" dirty="0">
                <a:solidFill>
                  <a:schemeClr val="tx1"/>
                </a:solidFill>
              </a:rPr>
              <a:t>Programming language- Python</a:t>
            </a:r>
          </a:p>
          <a:p>
            <a:pPr marL="571500" indent="-342900">
              <a:buFont typeface="Arial" panose="020B0604020202020204" pitchFamily="34" charset="0"/>
              <a:buChar char="•"/>
            </a:pPr>
            <a:r>
              <a:rPr lang="en-US" sz="1800" dirty="0">
                <a:solidFill>
                  <a:schemeClr val="tx1"/>
                </a:solidFill>
              </a:rPr>
              <a:t>Data Processing and Libraries – </a:t>
            </a:r>
            <a:r>
              <a:rPr lang="en-US" sz="1800" dirty="0" err="1">
                <a:solidFill>
                  <a:schemeClr val="tx1"/>
                </a:solidFill>
              </a:rPr>
              <a:t>Numpy</a:t>
            </a:r>
            <a:r>
              <a:rPr lang="en-US" sz="1800" dirty="0">
                <a:solidFill>
                  <a:schemeClr val="tx1"/>
                </a:solidFill>
              </a:rPr>
              <a:t>, OpenCV, Matplotlib</a:t>
            </a:r>
          </a:p>
          <a:p>
            <a:pPr marL="571500" indent="-342900">
              <a:buFont typeface="Arial" panose="020B0604020202020204" pitchFamily="34" charset="0"/>
              <a:buChar char="•"/>
            </a:pPr>
            <a:r>
              <a:rPr lang="en-US" sz="1800" dirty="0">
                <a:solidFill>
                  <a:schemeClr val="tx1"/>
                </a:solidFill>
              </a:rPr>
              <a:t>Deep Learning Framework – PyTorch</a:t>
            </a:r>
          </a:p>
          <a:p>
            <a:pPr marL="571500" indent="-342900">
              <a:buFont typeface="Arial" panose="020B0604020202020204" pitchFamily="34" charset="0"/>
              <a:buChar char="•"/>
            </a:pPr>
            <a:r>
              <a:rPr lang="en-US" sz="1800" dirty="0">
                <a:solidFill>
                  <a:schemeClr val="tx1"/>
                </a:solidFill>
              </a:rPr>
              <a:t>Dataset – DLIB: ibug_300W </a:t>
            </a:r>
          </a:p>
        </p:txBody>
      </p:sp>
    </p:spTree>
    <p:extLst>
      <p:ext uri="{BB962C8B-B14F-4D97-AF65-F5344CB8AC3E}">
        <p14:creationId xmlns:p14="http://schemas.microsoft.com/office/powerpoint/2010/main" val="2557935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6"/>
          <p:cNvSpPr txBox="1">
            <a:spLocks noGrp="1"/>
          </p:cNvSpPr>
          <p:nvPr>
            <p:ph type="subTitle" idx="1"/>
          </p:nvPr>
        </p:nvSpPr>
        <p:spPr>
          <a:xfrm>
            <a:off x="-19099308" y="-9815680"/>
            <a:ext cx="49874010" cy="26282568"/>
          </a:xfrm>
          <a:prstGeom prst="rect">
            <a:avLst/>
          </a:prstGeom>
          <a:noFill/>
          <a:ln>
            <a:noFill/>
          </a:ln>
        </p:spPr>
        <p:txBody>
          <a:bodyPr spcFirstLastPara="1" wrap="square" lIns="91425" tIns="45700" rIns="91425" bIns="45700" anchor="t" anchorCtr="0">
            <a:normAutofit fontScale="95000"/>
          </a:bodyPr>
          <a:lstStyle/>
          <a:p>
            <a:pPr marL="0" lvl="0" indent="0" algn="l" rtl="0">
              <a:lnSpc>
                <a:spcPct val="90000"/>
              </a:lnSpc>
              <a:spcBef>
                <a:spcPts val="0"/>
              </a:spcBef>
              <a:spcAft>
                <a:spcPts val="0"/>
              </a:spcAft>
              <a:buClr>
                <a:schemeClr val="dk1"/>
              </a:buClr>
              <a:buSzPts val="2400"/>
              <a:buNone/>
            </a:pPr>
            <a:r>
              <a:rPr lang="en-US" altLang="en-US" dirty="0">
                <a:latin typeface="Times New Roman" panose="02020503050405090304"/>
                <a:ea typeface="Times New Roman" panose="02020503050405090304"/>
                <a:cs typeface="Times New Roman" panose="02020503050405090304"/>
                <a:sym typeface="Times New Roman" panose="02020503050405090304"/>
              </a:rPr>
              <a:t> </a:t>
            </a:r>
          </a:p>
          <a:p>
            <a:pPr marL="0" lvl="0" indent="0" algn="l" rtl="0">
              <a:lnSpc>
                <a:spcPct val="90000"/>
              </a:lnSpc>
              <a:spcBef>
                <a:spcPts val="0"/>
              </a:spcBef>
              <a:spcAft>
                <a:spcPts val="0"/>
              </a:spcAft>
              <a:buClr>
                <a:schemeClr val="dk1"/>
              </a:buClr>
              <a:buSzPts val="2400"/>
              <a:buNone/>
            </a:pPr>
            <a:endParaRPr lang="en-US" altLang="en-US" dirty="0">
              <a:latin typeface="Times New Roman" panose="02020503050405090304"/>
              <a:ea typeface="Times New Roman" panose="02020503050405090304"/>
              <a:cs typeface="Times New Roman" panose="02020503050405090304"/>
              <a:sym typeface="Times New Roman" panose="02020503050405090304"/>
            </a:endParaRPr>
          </a:p>
          <a:p>
            <a:pPr marL="0" lvl="0" indent="0" algn="l" rtl="0">
              <a:lnSpc>
                <a:spcPct val="90000"/>
              </a:lnSpc>
              <a:spcBef>
                <a:spcPts val="0"/>
              </a:spcBef>
              <a:spcAft>
                <a:spcPts val="0"/>
              </a:spcAft>
              <a:buClr>
                <a:schemeClr val="dk1"/>
              </a:buClr>
              <a:buSzPts val="2400"/>
              <a:buNone/>
            </a:pPr>
            <a:endParaRPr lang="en-US" altLang="en-US" dirty="0">
              <a:latin typeface="Times New Roman" panose="02020503050405090304"/>
              <a:ea typeface="Times New Roman" panose="02020503050405090304"/>
              <a:cs typeface="Times New Roman" panose="02020503050405090304"/>
              <a:sym typeface="Times New Roman" panose="02020503050405090304"/>
            </a:endParaRPr>
          </a:p>
          <a:p>
            <a:pPr marL="0" lvl="0" indent="0" algn="l" rtl="0">
              <a:lnSpc>
                <a:spcPct val="90000"/>
              </a:lnSpc>
              <a:spcBef>
                <a:spcPts val="0"/>
              </a:spcBef>
              <a:spcAft>
                <a:spcPts val="0"/>
              </a:spcAft>
              <a:buClr>
                <a:schemeClr val="dk1"/>
              </a:buClr>
              <a:buSzPts val="2400"/>
              <a:buNone/>
            </a:pPr>
            <a:endParaRPr lang="en-US" altLang="en-US" dirty="0">
              <a:latin typeface="Times New Roman" panose="02020503050405090304"/>
              <a:ea typeface="Times New Roman" panose="02020503050405090304"/>
              <a:cs typeface="Times New Roman" panose="02020503050405090304"/>
              <a:sym typeface="Times New Roman" panose="02020503050405090304"/>
            </a:endParaRPr>
          </a:p>
          <a:p>
            <a:pPr marL="0" lvl="0" indent="0" algn="l" rtl="0">
              <a:lnSpc>
                <a:spcPct val="90000"/>
              </a:lnSpc>
              <a:spcBef>
                <a:spcPts val="0"/>
              </a:spcBef>
              <a:spcAft>
                <a:spcPts val="0"/>
              </a:spcAft>
              <a:buClr>
                <a:schemeClr val="dk1"/>
              </a:buClr>
              <a:buSzPts val="2400"/>
              <a:buNone/>
            </a:pPr>
            <a:endParaRPr lang="en-US" altLang="en-US" dirty="0">
              <a:latin typeface="Times New Roman" panose="02020503050405090304"/>
              <a:ea typeface="Times New Roman" panose="02020503050405090304"/>
              <a:cs typeface="Times New Roman" panose="02020503050405090304"/>
              <a:sym typeface="Times New Roman" panose="02020503050405090304"/>
            </a:endParaRPr>
          </a:p>
          <a:p>
            <a:pPr marL="0" lvl="0" indent="0" algn="l" rtl="0">
              <a:lnSpc>
                <a:spcPct val="90000"/>
              </a:lnSpc>
              <a:spcBef>
                <a:spcPts val="0"/>
              </a:spcBef>
              <a:spcAft>
                <a:spcPts val="0"/>
              </a:spcAft>
              <a:buClr>
                <a:schemeClr val="dk1"/>
              </a:buClr>
              <a:buSzPts val="2400"/>
              <a:buNone/>
            </a:pPr>
            <a:endParaRPr lang="en-US" altLang="en-US" dirty="0">
              <a:latin typeface="Times New Roman" panose="02020503050405090304"/>
              <a:ea typeface="Times New Roman" panose="02020503050405090304"/>
              <a:cs typeface="Times New Roman" panose="02020503050405090304"/>
              <a:sym typeface="Times New Roman" panose="02020503050405090304"/>
            </a:endParaRPr>
          </a:p>
          <a:p>
            <a:pPr marL="0" lvl="0" indent="0" algn="l" rtl="0">
              <a:lnSpc>
                <a:spcPct val="90000"/>
              </a:lnSpc>
              <a:spcBef>
                <a:spcPts val="0"/>
              </a:spcBef>
              <a:spcAft>
                <a:spcPts val="0"/>
              </a:spcAft>
              <a:buClr>
                <a:schemeClr val="dk1"/>
              </a:buClr>
              <a:buSzPts val="2400"/>
              <a:buNone/>
            </a:pPr>
            <a:endParaRPr lang="en-US" altLang="en-US" dirty="0">
              <a:latin typeface="Times New Roman" panose="02020503050405090304"/>
              <a:ea typeface="Times New Roman" panose="02020503050405090304"/>
              <a:cs typeface="Times New Roman" panose="02020503050405090304"/>
              <a:sym typeface="Times New Roman" panose="02020503050405090304"/>
            </a:endParaRPr>
          </a:p>
          <a:p>
            <a:pPr marL="0" lvl="0" indent="0" algn="l" rtl="0">
              <a:lnSpc>
                <a:spcPct val="90000"/>
              </a:lnSpc>
              <a:spcBef>
                <a:spcPts val="0"/>
              </a:spcBef>
              <a:spcAft>
                <a:spcPts val="0"/>
              </a:spcAft>
              <a:buClr>
                <a:schemeClr val="dk1"/>
              </a:buClr>
              <a:buSzPts val="2400"/>
              <a:buNone/>
            </a:pPr>
            <a:endParaRPr lang="en-US" altLang="en-US" dirty="0">
              <a:latin typeface="Times New Roman" panose="02020503050405090304"/>
              <a:ea typeface="Times New Roman" panose="02020503050405090304"/>
              <a:cs typeface="Times New Roman" panose="02020503050405090304"/>
              <a:sym typeface="Times New Roman" panose="02020503050405090304"/>
            </a:endParaRPr>
          </a:p>
          <a:p>
            <a:pPr marL="0" lvl="0" indent="0" algn="l" rtl="0">
              <a:lnSpc>
                <a:spcPct val="90000"/>
              </a:lnSpc>
              <a:spcBef>
                <a:spcPts val="0"/>
              </a:spcBef>
              <a:spcAft>
                <a:spcPts val="0"/>
              </a:spcAft>
              <a:buClr>
                <a:schemeClr val="dk1"/>
              </a:buClr>
              <a:buSzPts val="2400"/>
              <a:buNone/>
            </a:pPr>
            <a:r>
              <a:rPr lang="en-US" altLang="en-US" dirty="0">
                <a:latin typeface="Times New Roman" panose="02020503050405090304"/>
                <a:ea typeface="Times New Roman" panose="02020503050405090304"/>
                <a:cs typeface="Times New Roman" panose="02020503050405090304"/>
                <a:sym typeface="Times New Roman" panose="02020503050405090304"/>
              </a:rPr>
              <a:t>				</a:t>
            </a:r>
            <a:endParaRPr lang="en-US" altLang="en-US" sz="4600" dirty="0">
              <a:latin typeface="Times New Roman" panose="02020503050405090304"/>
              <a:ea typeface="Times New Roman" panose="02020503050405090304"/>
              <a:cs typeface="Times New Roman" panose="02020503050405090304"/>
              <a:sym typeface="Times New Roman" panose="02020503050405090304"/>
            </a:endParaRPr>
          </a:p>
        </p:txBody>
      </p:sp>
      <p:pic>
        <p:nvPicPr>
          <p:cNvPr id="2" name="Picture 1">
            <a:extLst>
              <a:ext uri="{FF2B5EF4-FFF2-40B4-BE49-F238E27FC236}">
                <a16:creationId xmlns:a16="http://schemas.microsoft.com/office/drawing/2014/main" id="{782DCD50-C966-2C3D-42E7-BF3F0E5DC8CD}"/>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68B604A0DF2D4429B84CC95D632292D" ma:contentTypeVersion="8" ma:contentTypeDescription="Create a new document." ma:contentTypeScope="" ma:versionID="045e174d82f270d9cd862f8c910ee198">
  <xsd:schema xmlns:xsd="http://www.w3.org/2001/XMLSchema" xmlns:xs="http://www.w3.org/2001/XMLSchema" xmlns:p="http://schemas.microsoft.com/office/2006/metadata/properties" xmlns:ns3="9e7aed07-2637-4e1e-8fdf-729178f45521" targetNamespace="http://schemas.microsoft.com/office/2006/metadata/properties" ma:root="true" ma:fieldsID="2a895f1795534efe2dacc603370507f6" ns3:_="">
    <xsd:import namespace="9e7aed07-2637-4e1e-8fdf-729178f4552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7aed07-2637-4e1e-8fdf-729178f4552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759729F-9CE9-4086-B408-6037DB522C09}">
  <ds:schemaRefs>
    <ds:schemaRef ds:uri="http://schemas.microsoft.com/sharepoint/v3/contenttype/forms"/>
  </ds:schemaRefs>
</ds:datastoreItem>
</file>

<file path=customXml/itemProps2.xml><?xml version="1.0" encoding="utf-8"?>
<ds:datastoreItem xmlns:ds="http://schemas.openxmlformats.org/officeDocument/2006/customXml" ds:itemID="{16810B6B-8FC2-4FA0-8ECB-947803BC96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7aed07-2637-4e1e-8fdf-729178f4552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DD0FC61-AA47-4587-BB73-C3FEA0D556D4}">
  <ds:schemaRefs>
    <ds:schemaRef ds:uri="http://schemas.openxmlformats.org/package/2006/metadata/core-properties"/>
    <ds:schemaRef ds:uri="http://schemas.microsoft.com/office/2006/documentManagement/types"/>
    <ds:schemaRef ds:uri="http://purl.org/dc/terms/"/>
    <ds:schemaRef ds:uri="http://purl.org/dc/dcmitype/"/>
    <ds:schemaRef ds:uri="http://schemas.microsoft.com/office/2006/metadata/properties"/>
    <ds:schemaRef ds:uri="9e7aed07-2637-4e1e-8fdf-729178f45521"/>
    <ds:schemaRef ds:uri="http://schemas.microsoft.com/office/infopath/2007/PartnerControl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Wisp</Template>
  <TotalTime>429</TotalTime>
  <Words>547</Words>
  <Application>Microsoft Office PowerPoint</Application>
  <PresentationFormat>Widescreen</PresentationFormat>
  <Paragraphs>52</Paragraphs>
  <Slides>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Century Gothic</vt:lpstr>
      <vt:lpstr>Comic Sans MS</vt:lpstr>
      <vt:lpstr>Times New Roman</vt:lpstr>
      <vt:lpstr>Wingdings 3</vt:lpstr>
      <vt:lpstr>Wisp</vt:lpstr>
      <vt:lpstr>PowerPoint Presentation</vt:lpstr>
      <vt:lpstr>                                         Problem Statement   Traditional facial landmark detection techniques struggle to accurately identify facial key points under real-world conditions such as variations in lighting, pose, expression, and occlusion. These conventional models rely heavily on handcrafted features and complex preprocessing, resulting in unstable predictions and limited generalization across diverse datasets.  The problem is to design and develop a deep learning-based model using a modified ResNet-18 architecture capable of accurately predicting 68 facial landmark coordinates from grayscale face images, while ensuring improved robustness, reduced preprocessing, and consistent performance under unconstrained environments. </vt:lpstr>
      <vt:lpstr>ABSTRACT   Facial landmark detection is a fundamental task in computer vision, enabling applications such as facial recognition, emotion analysis, head-pose estimation, and augmented reality. This project presents a deep learning-based approach for detecting 68 facial landmark points using a modified ResNet-18 architecture. The model processes grayscale face images and learns hierarchical spatial features through convolutional neural networks (CNNs), eliminating the need for complex handcrafted features. By leveraging residual connections and enhanced feature extraction, the proposed system aims to  address common challenges in real-world scenarios including lighting variations, occlusions, and pose changes. Preliminary implementation and testing indicate improved  prediction stability and generalization compared to traditional methods, laying the foundation for a robust and scalable facial landmark detection framework. </vt:lpstr>
      <vt:lpstr>PowerPoint Presentation</vt:lpstr>
      <vt:lpstr>Technologies that would be used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VEERA HARI</dc:creator>
  <cp:lastModifiedBy>BHARGAV CHALLA</cp:lastModifiedBy>
  <cp:revision>17</cp:revision>
  <dcterms:created xsi:type="dcterms:W3CDTF">2025-12-01T16:24:48Z</dcterms:created>
  <dcterms:modified xsi:type="dcterms:W3CDTF">2025-12-11T02:56:07Z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625E50162666C99350C12D698CBCDC85_43</vt:lpwstr>
  </property>
  <property fmtid="{D5CDD505-2E9C-101B-9397-08002B2CF9AE}" pid="3" name="KSOProductBuildVer">
    <vt:lpwstr>1033-12.1.23152.23152</vt:lpwstr>
  </property>
  <property fmtid="{D5CDD505-2E9C-101B-9397-08002B2CF9AE}" pid="4" name="ContentTypeId">
    <vt:lpwstr>0x010100D68B604A0DF2D4429B84CC95D632292D</vt:lpwstr>
  </property>
</Properties>
</file>